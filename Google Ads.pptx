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81" r:id="rId25"/>
    <p:sldId id="282" r:id="rId26"/>
    <p:sldId id="283" r:id="rId2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>
      <p:cViewPr>
        <p:scale>
          <a:sx n="75" d="100"/>
          <a:sy n="75" d="100"/>
        </p:scale>
        <p:origin x="739" y="10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5F0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62299" y="211023"/>
            <a:ext cx="5867400" cy="391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ezyneecole.com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9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31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5F0E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08264" y="0"/>
            <a:ext cx="3983735" cy="223532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6844156" y="4376420"/>
            <a:ext cx="5219065" cy="0"/>
          </a:xfrm>
          <a:custGeom>
            <a:avLst/>
            <a:gdLst/>
            <a:ahLst/>
            <a:cxnLst/>
            <a:rect l="l" t="t" r="r" b="b"/>
            <a:pathLst>
              <a:path w="5219065">
                <a:moveTo>
                  <a:pt x="0" y="0"/>
                </a:moveTo>
                <a:lnTo>
                  <a:pt x="5218557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849871" y="3125165"/>
            <a:ext cx="4693920" cy="17900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Courier New"/>
                <a:cs typeface="Courier New"/>
              </a:rPr>
              <a:t>DIGITAL</a:t>
            </a:r>
            <a:r>
              <a:rPr sz="3600" b="1" spc="-155" dirty="0">
                <a:latin typeface="Courier New"/>
                <a:cs typeface="Courier New"/>
              </a:rPr>
              <a:t> </a:t>
            </a:r>
            <a:r>
              <a:rPr sz="3600" b="1" spc="-10" dirty="0">
                <a:latin typeface="Courier New"/>
                <a:cs typeface="Courier New"/>
              </a:rPr>
              <a:t>MARKETING ASSIGNMENT</a:t>
            </a:r>
            <a:endParaRPr sz="36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95"/>
              </a:spcBef>
            </a:pPr>
            <a:r>
              <a:rPr sz="2800" b="1" dirty="0">
                <a:latin typeface="Calibri"/>
                <a:cs typeface="Calibri"/>
              </a:rPr>
              <a:t>Google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Ads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7" name="object 9">
            <a:extLst>
              <a:ext uri="{FF2B5EF4-FFF2-40B4-BE49-F238E27FC236}">
                <a16:creationId xmlns:a16="http://schemas.microsoft.com/office/drawing/2014/main" id="{2CDB9EF5-2196-DEA5-CA68-8D4F43BF3309}"/>
              </a:ext>
            </a:extLst>
          </p:cNvPr>
          <p:cNvSpPr txBox="1"/>
          <p:nvPr/>
        </p:nvSpPr>
        <p:spPr>
          <a:xfrm>
            <a:off x="8797036" y="5463643"/>
            <a:ext cx="3235705" cy="916276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R="30480" algn="r">
              <a:lnSpc>
                <a:spcPct val="100000"/>
              </a:lnSpc>
              <a:spcBef>
                <a:spcPts val="825"/>
              </a:spcBef>
            </a:pPr>
            <a:r>
              <a:rPr sz="1400" spc="-10" dirty="0">
                <a:solidFill>
                  <a:srgbClr val="252525"/>
                </a:solidFill>
                <a:latin typeface="Calibri"/>
                <a:cs typeface="Calibri"/>
              </a:rPr>
              <a:t>Submitted</a:t>
            </a:r>
            <a:r>
              <a:rPr sz="1400" spc="-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By</a:t>
            </a:r>
            <a:r>
              <a:rPr sz="1400" spc="-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–</a:t>
            </a:r>
            <a:r>
              <a:rPr sz="1400" spc="-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lang="en-US" sz="1400" spc="-20" dirty="0">
                <a:solidFill>
                  <a:srgbClr val="252525"/>
                </a:solidFill>
                <a:latin typeface="Calibri"/>
                <a:cs typeface="Calibri"/>
              </a:rPr>
              <a:t>Bhavesh Khemani</a:t>
            </a:r>
            <a:endParaRPr sz="1400" dirty="0">
              <a:latin typeface="Calibri"/>
              <a:cs typeface="Calibri"/>
            </a:endParaRPr>
          </a:p>
          <a:p>
            <a:pPr marR="30480" algn="r">
              <a:lnSpc>
                <a:spcPct val="100000"/>
              </a:lnSpc>
              <a:spcBef>
                <a:spcPts val="725"/>
              </a:spcBef>
            </a:pP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BCA</a:t>
            </a:r>
            <a:r>
              <a:rPr sz="1400" spc="-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3</a:t>
            </a:r>
            <a:r>
              <a:rPr sz="1350" baseline="24691" dirty="0">
                <a:solidFill>
                  <a:srgbClr val="252525"/>
                </a:solidFill>
                <a:latin typeface="Calibri"/>
                <a:cs typeface="Calibri"/>
              </a:rPr>
              <a:t>rd</a:t>
            </a:r>
            <a:r>
              <a:rPr sz="1350" spc="135" baseline="24691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52525"/>
                </a:solidFill>
                <a:latin typeface="Calibri"/>
                <a:cs typeface="Calibri"/>
              </a:rPr>
              <a:t>Semester</a:t>
            </a:r>
            <a:endParaRPr sz="1400" dirty="0">
              <a:latin typeface="Calibri"/>
              <a:cs typeface="Calibri"/>
            </a:endParaRPr>
          </a:p>
          <a:p>
            <a:pPr marR="30480" algn="r">
              <a:lnSpc>
                <a:spcPct val="100000"/>
              </a:lnSpc>
              <a:spcBef>
                <a:spcPts val="650"/>
              </a:spcBef>
            </a:pPr>
            <a:r>
              <a:rPr sz="1300" dirty="0">
                <a:solidFill>
                  <a:srgbClr val="252525"/>
                </a:solidFill>
                <a:latin typeface="Calibri"/>
                <a:cs typeface="Calibri"/>
              </a:rPr>
              <a:t>Session</a:t>
            </a:r>
            <a:r>
              <a:rPr sz="1300" spc="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52525"/>
                </a:solidFill>
                <a:latin typeface="Calibri"/>
                <a:cs typeface="Calibri"/>
              </a:rPr>
              <a:t>–</a:t>
            </a:r>
            <a:r>
              <a:rPr sz="1300" spc="-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52525"/>
                </a:solidFill>
                <a:latin typeface="Calibri"/>
                <a:cs typeface="Calibri"/>
              </a:rPr>
              <a:t>2026–</a:t>
            </a:r>
            <a:r>
              <a:rPr sz="1300" spc="-20" dirty="0">
                <a:solidFill>
                  <a:srgbClr val="252525"/>
                </a:solidFill>
                <a:latin typeface="Calibri"/>
                <a:cs typeface="Calibri"/>
              </a:rPr>
              <a:t>2027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958B391-9C1A-5AD6-DB82-5DF5D52CBBD7}"/>
              </a:ext>
            </a:extLst>
          </p:cNvPr>
          <p:cNvSpPr/>
          <p:nvPr/>
        </p:nvSpPr>
        <p:spPr>
          <a:xfrm>
            <a:off x="802434" y="1237618"/>
            <a:ext cx="5219065" cy="495299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6A480E-53BC-17DB-B879-F748821263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587"/>
          <a:stretch>
            <a:fillRect/>
          </a:stretch>
        </p:blipFill>
        <p:spPr>
          <a:xfrm>
            <a:off x="961693" y="1371600"/>
            <a:ext cx="4143707" cy="44005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BA6688-F577-E9CF-5170-89754A88AB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1498" y="1714644"/>
            <a:ext cx="3225935" cy="17583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8595" y="3834118"/>
            <a:ext cx="1394810" cy="106323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52450" y="488950"/>
            <a:ext cx="11087100" cy="0"/>
          </a:xfrm>
          <a:custGeom>
            <a:avLst/>
            <a:gdLst/>
            <a:ahLst/>
            <a:cxnLst/>
            <a:rect l="l" t="t" r="r" b="b"/>
            <a:pathLst>
              <a:path w="11087100">
                <a:moveTo>
                  <a:pt x="0" y="0"/>
                </a:moveTo>
                <a:lnTo>
                  <a:pt x="11087100" y="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52450" y="6480175"/>
            <a:ext cx="11087100" cy="0"/>
          </a:xfrm>
          <a:custGeom>
            <a:avLst/>
            <a:gdLst/>
            <a:ahLst/>
            <a:cxnLst/>
            <a:rect l="l" t="t" r="r" b="b"/>
            <a:pathLst>
              <a:path w="11087100">
                <a:moveTo>
                  <a:pt x="0" y="0"/>
                </a:moveTo>
                <a:lnTo>
                  <a:pt x="11087100" y="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45693" y="201930"/>
            <a:ext cx="14579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Digital</a:t>
            </a:r>
            <a:r>
              <a:rPr sz="1400" b="1" spc="-6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01F5F"/>
                </a:solidFill>
                <a:latin typeface="Arial"/>
                <a:cs typeface="Arial"/>
              </a:rPr>
              <a:t>Marketing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76484" y="201930"/>
            <a:ext cx="16617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Assignment</a:t>
            </a:r>
            <a:r>
              <a:rPr sz="1400" b="1" spc="-7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Report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5693" y="522477"/>
            <a:ext cx="180340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Arial"/>
                <a:cs typeface="Arial"/>
              </a:rPr>
              <a:t>ASSIGNMENT</a:t>
            </a:r>
            <a:r>
              <a:rPr sz="1400" b="1" spc="-60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FOLIO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84953" y="605764"/>
            <a:ext cx="2022475" cy="32239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020" marR="152400" algn="ctr">
              <a:lnSpc>
                <a:spcPct val="15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Assignment</a:t>
            </a:r>
            <a:r>
              <a:rPr sz="1400" b="1" spc="-4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Folio</a:t>
            </a:r>
            <a:r>
              <a:rPr sz="1400" b="1" spc="-80" dirty="0">
                <a:latin typeface="Arial"/>
                <a:cs typeface="Arial"/>
              </a:rPr>
              <a:t> </a:t>
            </a:r>
            <a:r>
              <a:rPr sz="1400" b="1" spc="-25" dirty="0">
                <a:latin typeface="Arial"/>
                <a:cs typeface="Arial"/>
              </a:rPr>
              <a:t>of </a:t>
            </a:r>
            <a:r>
              <a:rPr sz="1400" dirty="0">
                <a:latin typeface="Arial MT"/>
                <a:cs typeface="Arial MT"/>
              </a:rPr>
              <a:t>Digital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Marketing </a:t>
            </a:r>
            <a:r>
              <a:rPr sz="1400" b="1" dirty="0">
                <a:latin typeface="Arial"/>
                <a:cs typeface="Arial"/>
              </a:rPr>
              <a:t>Submitted</a:t>
            </a:r>
            <a:r>
              <a:rPr sz="1400" b="1" spc="-55" dirty="0">
                <a:latin typeface="Arial"/>
                <a:cs typeface="Arial"/>
              </a:rPr>
              <a:t> </a:t>
            </a:r>
            <a:r>
              <a:rPr sz="1400" b="1" spc="-25" dirty="0">
                <a:latin typeface="Arial"/>
                <a:cs typeface="Arial"/>
              </a:rPr>
              <a:t>to</a:t>
            </a:r>
            <a:endParaRPr sz="1400" dirty="0">
              <a:latin typeface="Arial"/>
              <a:cs typeface="Arial"/>
            </a:endParaRPr>
          </a:p>
          <a:p>
            <a:pPr marL="38100" marR="30480" indent="1905" algn="ctr">
              <a:lnSpc>
                <a:spcPct val="150000"/>
              </a:lnSpc>
            </a:pPr>
            <a:r>
              <a:rPr sz="1400" dirty="0">
                <a:latin typeface="Arial MT"/>
                <a:cs typeface="Arial MT"/>
              </a:rPr>
              <a:t>Dezyne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École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College </a:t>
            </a:r>
            <a:r>
              <a:rPr sz="1400" spc="-25" dirty="0">
                <a:latin typeface="Arial MT"/>
                <a:cs typeface="Arial MT"/>
              </a:rPr>
              <a:t>Toward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Digital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Marketing </a:t>
            </a:r>
            <a:r>
              <a:rPr sz="1400" b="1" spc="-25" dirty="0">
                <a:latin typeface="Arial"/>
                <a:cs typeface="Arial"/>
              </a:rPr>
              <a:t>By</a:t>
            </a:r>
            <a:endParaRPr sz="1400" dirty="0">
              <a:latin typeface="Arial"/>
              <a:cs typeface="Arial"/>
            </a:endParaRPr>
          </a:p>
          <a:p>
            <a:pPr marL="1905" algn="ctr">
              <a:lnSpc>
                <a:spcPct val="100000"/>
              </a:lnSpc>
              <a:spcBef>
                <a:spcPts val="840"/>
              </a:spcBef>
            </a:pPr>
            <a:r>
              <a:rPr sz="1400" spc="-25" dirty="0">
                <a:latin typeface="Arial MT"/>
                <a:cs typeface="Arial MT"/>
              </a:rPr>
              <a:t>BCA</a:t>
            </a:r>
            <a:endParaRPr lang="en-IN" sz="1400" dirty="0">
              <a:latin typeface="Arial MT"/>
              <a:cs typeface="Arial MT"/>
            </a:endParaRPr>
          </a:p>
          <a:p>
            <a:pPr marL="1905" algn="ctr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latin typeface="Arial MT"/>
                <a:cs typeface="Arial MT"/>
              </a:rPr>
              <a:t>3</a:t>
            </a:r>
            <a:r>
              <a:rPr sz="1350" baseline="24691" dirty="0">
                <a:latin typeface="Arial MT"/>
                <a:cs typeface="Arial MT"/>
              </a:rPr>
              <a:t>rd</a:t>
            </a:r>
            <a:r>
              <a:rPr sz="1350" spc="247" baseline="24691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Semester</a:t>
            </a:r>
            <a:endParaRPr lang="en-US" sz="1400" spc="-10" dirty="0">
              <a:latin typeface="Arial MT"/>
              <a:cs typeface="Arial MT"/>
            </a:endParaRPr>
          </a:p>
          <a:p>
            <a:pPr marR="30480" algn="ctr">
              <a:lnSpc>
                <a:spcPct val="100000"/>
              </a:lnSpc>
              <a:spcBef>
                <a:spcPts val="825"/>
              </a:spcBef>
            </a:pPr>
            <a:r>
              <a:rPr lang="en-US" sz="1400" dirty="0">
                <a:latin typeface="Calibri"/>
                <a:cs typeface="Calibri"/>
              </a:rPr>
              <a:t>Bhavesh Khemani</a:t>
            </a:r>
          </a:p>
          <a:p>
            <a:pPr marL="1905" algn="ctr">
              <a:lnSpc>
                <a:spcPct val="100000"/>
              </a:lnSpc>
              <a:spcBef>
                <a:spcPts val="840"/>
              </a:spcBef>
            </a:pPr>
            <a:endParaRPr lang="en-IN" sz="1400" spc="-1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82666" y="4897348"/>
            <a:ext cx="2031364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4445" algn="ctr">
              <a:lnSpc>
                <a:spcPct val="15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Dezyne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École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College </a:t>
            </a:r>
            <a:r>
              <a:rPr sz="1400" dirty="0">
                <a:latin typeface="Arial MT"/>
                <a:cs typeface="Arial MT"/>
              </a:rPr>
              <a:t>106/10,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Civil</a:t>
            </a:r>
            <a:r>
              <a:rPr sz="1400" spc="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Lines,</a:t>
            </a:r>
            <a:r>
              <a:rPr sz="1400" spc="-11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Ajmer </a:t>
            </a:r>
            <a:r>
              <a:rPr sz="14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 MT"/>
                <a:cs typeface="Arial MT"/>
                <a:hlinkClick r:id="rId3"/>
              </a:rPr>
              <a:t>www.dezyneecole.com</a:t>
            </a:r>
            <a:r>
              <a:rPr sz="1400" spc="-10" dirty="0">
                <a:solidFill>
                  <a:srgbClr val="0462C1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2026-</a:t>
            </a:r>
            <a:r>
              <a:rPr sz="1400" spc="-20" dirty="0">
                <a:latin typeface="Arial MT"/>
                <a:cs typeface="Arial MT"/>
              </a:rPr>
              <a:t>2027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52450" y="488950"/>
            <a:ext cx="11087100" cy="0"/>
          </a:xfrm>
          <a:custGeom>
            <a:avLst/>
            <a:gdLst/>
            <a:ahLst/>
            <a:cxnLst/>
            <a:rect l="l" t="t" r="r" b="b"/>
            <a:pathLst>
              <a:path w="11087100">
                <a:moveTo>
                  <a:pt x="0" y="0"/>
                </a:moveTo>
                <a:lnTo>
                  <a:pt x="11087100" y="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52450" y="6480175"/>
            <a:ext cx="11087100" cy="0"/>
          </a:xfrm>
          <a:custGeom>
            <a:avLst/>
            <a:gdLst/>
            <a:ahLst/>
            <a:cxnLst/>
            <a:rect l="l" t="t" r="r" b="b"/>
            <a:pathLst>
              <a:path w="11087100">
                <a:moveTo>
                  <a:pt x="0" y="0"/>
                </a:moveTo>
                <a:lnTo>
                  <a:pt x="11087100" y="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5693" y="201930"/>
            <a:ext cx="14579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Digital</a:t>
            </a:r>
            <a:r>
              <a:rPr sz="1400" b="1" spc="-6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01F5F"/>
                </a:solidFill>
                <a:latin typeface="Arial"/>
                <a:cs typeface="Arial"/>
              </a:rPr>
              <a:t>Marketing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76484" y="201930"/>
            <a:ext cx="16617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Assignment</a:t>
            </a:r>
            <a:r>
              <a:rPr sz="1400" b="1" spc="-7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Report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5693" y="522477"/>
            <a:ext cx="10350500" cy="33147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Arial"/>
                <a:cs typeface="Arial"/>
              </a:rPr>
              <a:t>ASSIGNMENT</a:t>
            </a:r>
            <a:r>
              <a:rPr sz="1400" b="1" spc="-60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FOLIO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Arial MT"/>
                <a:cs typeface="Arial MT"/>
              </a:rPr>
              <a:t>We</a:t>
            </a:r>
            <a:r>
              <a:rPr sz="1400" spc="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take</a:t>
            </a:r>
            <a:r>
              <a:rPr sz="1400" spc="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this</a:t>
            </a:r>
            <a:r>
              <a:rPr sz="1400" spc="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opportunity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express</a:t>
            </a:r>
            <a:r>
              <a:rPr sz="1400" spc="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our</a:t>
            </a:r>
            <a:r>
              <a:rPr sz="1400" spc="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sincere</a:t>
            </a:r>
            <a:r>
              <a:rPr sz="1400" spc="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gratitude</a:t>
            </a:r>
            <a:r>
              <a:rPr sz="1400" spc="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Dezyne</a:t>
            </a:r>
            <a:r>
              <a:rPr sz="1400" spc="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École</a:t>
            </a:r>
            <a:r>
              <a:rPr sz="1400" spc="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College</a:t>
            </a:r>
            <a:r>
              <a:rPr sz="1400" spc="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</a:t>
            </a:r>
            <a:r>
              <a:rPr sz="1400" spc="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providing</a:t>
            </a:r>
            <a:r>
              <a:rPr sz="1400" spc="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us</a:t>
            </a:r>
            <a:r>
              <a:rPr sz="1400" spc="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with</a:t>
            </a:r>
            <a:r>
              <a:rPr sz="1400" spc="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knowledge,</a:t>
            </a:r>
            <a:r>
              <a:rPr sz="1400" spc="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resources,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guidance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essential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successful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completion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this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project.</a:t>
            </a:r>
            <a:endParaRPr sz="1400">
              <a:latin typeface="Arial MT"/>
              <a:cs typeface="Arial MT"/>
            </a:endParaRPr>
          </a:p>
          <a:p>
            <a:pPr marL="12700" marR="6350">
              <a:lnSpc>
                <a:spcPct val="150000"/>
              </a:lnSpc>
              <a:spcBef>
                <a:spcPts val="600"/>
              </a:spcBef>
            </a:pPr>
            <a:r>
              <a:rPr sz="1400" dirty="0">
                <a:latin typeface="Arial MT"/>
                <a:cs typeface="Arial MT"/>
              </a:rPr>
              <a:t>Our</a:t>
            </a:r>
            <a:r>
              <a:rPr sz="1400" spc="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deepest</a:t>
            </a:r>
            <a:r>
              <a:rPr sz="1400" spc="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thanks</a:t>
            </a:r>
            <a:r>
              <a:rPr sz="1400" spc="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our</a:t>
            </a:r>
            <a:r>
              <a:rPr sz="1400" spc="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respected</a:t>
            </a:r>
            <a:r>
              <a:rPr sz="1400" spc="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Principal,</a:t>
            </a:r>
            <a:r>
              <a:rPr sz="1400" spc="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Dr.</a:t>
            </a:r>
            <a:r>
              <a:rPr sz="1400" spc="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Vinita</a:t>
            </a:r>
            <a:r>
              <a:rPr sz="1400" spc="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Mathur,</a:t>
            </a:r>
            <a:r>
              <a:rPr sz="1400" spc="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</a:t>
            </a:r>
            <a:r>
              <a:rPr sz="1400" spc="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her</a:t>
            </a:r>
            <a:r>
              <a:rPr sz="1400" spc="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visionary</a:t>
            </a:r>
            <a:r>
              <a:rPr sz="1400" spc="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leadership</a:t>
            </a:r>
            <a:r>
              <a:rPr sz="1400" spc="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continuous</a:t>
            </a:r>
            <a:r>
              <a:rPr sz="1400" spc="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encouragement.</a:t>
            </a:r>
            <a:r>
              <a:rPr sz="1400" spc="35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Her </a:t>
            </a:r>
            <a:r>
              <a:rPr sz="1400" dirty="0">
                <a:latin typeface="Arial MT"/>
                <a:cs typeface="Arial MT"/>
              </a:rPr>
              <a:t>commitment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academic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excellence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student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growth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has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been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constant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source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motivation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pride.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1400" dirty="0">
                <a:latin typeface="Arial MT"/>
                <a:cs typeface="Arial MT"/>
              </a:rPr>
              <a:t>We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are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equally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thankful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 all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our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faculty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members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their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consistent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support,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expert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advice,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valuable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insights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that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shaped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our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latin typeface="Arial MT"/>
                <a:cs typeface="Arial MT"/>
              </a:rPr>
              <a:t>learning</a:t>
            </a:r>
            <a:r>
              <a:rPr sz="1400" spc="-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helped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us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achieve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this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milestone.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1400" spc="-10" dirty="0">
                <a:latin typeface="Arial MT"/>
                <a:cs typeface="Arial MT"/>
              </a:rPr>
              <a:t>Lastly,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we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extend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heartfelt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thanks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everyone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who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directly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or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indirectly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contributed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success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this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project.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1400" dirty="0">
                <a:latin typeface="Arial MT"/>
                <a:cs typeface="Arial MT"/>
              </a:rPr>
              <a:t>We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are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proud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part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Dezyne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École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College,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institution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that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truly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nurtures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professionalism,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innovation,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purpose.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5693" y="4389577"/>
            <a:ext cx="2325370" cy="1342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 MT"/>
                <a:cs typeface="Arial MT"/>
              </a:rPr>
              <a:t>With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Sincere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appreciation,</a:t>
            </a:r>
            <a:endParaRPr lang="en-IN" sz="1400" dirty="0">
              <a:latin typeface="Arial MT"/>
              <a:cs typeface="Arial MT"/>
            </a:endParaRPr>
          </a:p>
          <a:p>
            <a:pPr marR="30480" algn="l">
              <a:lnSpc>
                <a:spcPct val="100000"/>
              </a:lnSpc>
              <a:spcBef>
                <a:spcPts val="825"/>
              </a:spcBef>
            </a:pPr>
            <a:r>
              <a:rPr lang="en-US" sz="1400" dirty="0">
                <a:latin typeface="Arial MT"/>
                <a:cs typeface="Calibri"/>
              </a:rPr>
              <a:t>Bhavesh Khemani</a:t>
            </a:r>
          </a:p>
          <a:p>
            <a:pPr marL="12700" marR="817244">
              <a:lnSpc>
                <a:spcPct val="185700"/>
              </a:lnSpc>
            </a:pPr>
            <a:r>
              <a:rPr sz="1400" dirty="0">
                <a:latin typeface="Arial MT"/>
                <a:cs typeface="Arial MT"/>
              </a:rPr>
              <a:t>Department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–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BCA</a:t>
            </a:r>
            <a:endParaRPr lang="en-IN" sz="1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lang="en-IN" sz="1400" dirty="0" err="1">
                <a:latin typeface="Arial MT"/>
                <a:cs typeface="Arial MT"/>
              </a:rPr>
              <a:t>Dezyne</a:t>
            </a:r>
            <a:r>
              <a:rPr lang="en-IN" sz="1400" spc="-5" dirty="0">
                <a:latin typeface="Arial MT"/>
                <a:cs typeface="Arial MT"/>
              </a:rPr>
              <a:t> </a:t>
            </a:r>
            <a:r>
              <a:rPr lang="en-IN" sz="1400" dirty="0">
                <a:latin typeface="Arial MT"/>
                <a:cs typeface="Arial MT"/>
              </a:rPr>
              <a:t>École</a:t>
            </a:r>
            <a:r>
              <a:rPr lang="en-IN" sz="1400" spc="-10" dirty="0">
                <a:latin typeface="Arial MT"/>
                <a:cs typeface="Arial MT"/>
              </a:rPr>
              <a:t> College,</a:t>
            </a:r>
            <a:r>
              <a:rPr lang="en-IN" sz="1400" spc="-90" dirty="0">
                <a:latin typeface="Arial MT"/>
                <a:cs typeface="Arial MT"/>
              </a:rPr>
              <a:t> </a:t>
            </a:r>
            <a:r>
              <a:rPr lang="en-IN" sz="1400" spc="-20" dirty="0">
                <a:latin typeface="Arial MT"/>
                <a:cs typeface="Arial MT"/>
              </a:rPr>
              <a:t>Ajmer</a:t>
            </a:r>
            <a:endParaRPr lang="en-IN" sz="1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52450" y="488950"/>
            <a:ext cx="11087100" cy="0"/>
          </a:xfrm>
          <a:custGeom>
            <a:avLst/>
            <a:gdLst/>
            <a:ahLst/>
            <a:cxnLst/>
            <a:rect l="l" t="t" r="r" b="b"/>
            <a:pathLst>
              <a:path w="11087100">
                <a:moveTo>
                  <a:pt x="0" y="0"/>
                </a:moveTo>
                <a:lnTo>
                  <a:pt x="11087100" y="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52450" y="6480175"/>
            <a:ext cx="11087100" cy="0"/>
          </a:xfrm>
          <a:custGeom>
            <a:avLst/>
            <a:gdLst/>
            <a:ahLst/>
            <a:cxnLst/>
            <a:rect l="l" t="t" r="r" b="b"/>
            <a:pathLst>
              <a:path w="11087100">
                <a:moveTo>
                  <a:pt x="0" y="0"/>
                </a:moveTo>
                <a:lnTo>
                  <a:pt x="11087100" y="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5693" y="201930"/>
            <a:ext cx="14579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Digital</a:t>
            </a:r>
            <a:r>
              <a:rPr sz="1400" b="1" spc="-6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01F5F"/>
                </a:solidFill>
                <a:latin typeface="Arial"/>
                <a:cs typeface="Arial"/>
              </a:rPr>
              <a:t>Marketing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76484" y="201930"/>
            <a:ext cx="16617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Assignment</a:t>
            </a:r>
            <a:r>
              <a:rPr sz="1400" b="1" spc="-7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Report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5693" y="522477"/>
            <a:ext cx="180340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Arial"/>
                <a:cs typeface="Arial"/>
              </a:rPr>
              <a:t>ASSIGNMENT</a:t>
            </a:r>
            <a:r>
              <a:rPr sz="1400" b="1" spc="-60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FOLIO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5693" y="1524381"/>
            <a:ext cx="9777095" cy="3714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Arial"/>
                <a:cs typeface="Arial"/>
              </a:rPr>
              <a:t>Objective:</a:t>
            </a:r>
            <a:endParaRPr sz="14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sz="1400" dirty="0">
                <a:latin typeface="Arial MT"/>
                <a:cs typeface="Arial MT"/>
              </a:rPr>
              <a:t>Increase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Website</a:t>
            </a:r>
            <a:r>
              <a:rPr sz="1400" spc="-8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Traffic,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Generate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Quality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Leads,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Improve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Brand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Visibility,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Boost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Course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Enrollments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&amp;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Maximize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ROI</a:t>
            </a:r>
            <a:endParaRPr sz="1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400" b="1" dirty="0">
                <a:latin typeface="Arial"/>
                <a:cs typeface="Arial"/>
              </a:rPr>
              <a:t>Key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Features:</a:t>
            </a:r>
            <a:endParaRPr sz="1400" dirty="0">
              <a:latin typeface="Arial"/>
              <a:cs typeface="Arial"/>
            </a:endParaRPr>
          </a:p>
          <a:p>
            <a:pPr marL="207645" indent="-194945">
              <a:lnSpc>
                <a:spcPct val="100000"/>
              </a:lnSpc>
              <a:spcBef>
                <a:spcPts val="1195"/>
              </a:spcBef>
              <a:buAutoNum type="arabicPeriod"/>
              <a:tabLst>
                <a:tab pos="207645" algn="l"/>
              </a:tabLst>
            </a:pPr>
            <a:r>
              <a:rPr sz="1400" b="1" dirty="0">
                <a:latin typeface="Arial"/>
                <a:cs typeface="Arial"/>
              </a:rPr>
              <a:t>Search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Campaign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Strategy</a:t>
            </a:r>
            <a:endParaRPr sz="14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sz="1400" spc="-20" dirty="0">
                <a:latin typeface="Arial MT"/>
                <a:cs typeface="Arial MT"/>
              </a:rPr>
              <a:t>Targeted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high-</a:t>
            </a:r>
            <a:r>
              <a:rPr sz="1400" dirty="0">
                <a:latin typeface="Arial MT"/>
                <a:cs typeface="Arial MT"/>
              </a:rPr>
              <a:t>intent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keywords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related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computer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courses.</a:t>
            </a:r>
            <a:endParaRPr sz="1400" dirty="0">
              <a:latin typeface="Arial MT"/>
              <a:cs typeface="Arial MT"/>
            </a:endParaRPr>
          </a:p>
          <a:p>
            <a:pPr marL="207645" indent="-194945">
              <a:lnSpc>
                <a:spcPct val="100000"/>
              </a:lnSpc>
              <a:spcBef>
                <a:spcPts val="1205"/>
              </a:spcBef>
              <a:buAutoNum type="arabicPeriod" startAt="2"/>
              <a:tabLst>
                <a:tab pos="207645" algn="l"/>
              </a:tabLst>
            </a:pPr>
            <a:r>
              <a:rPr sz="1400" b="1" spc="-10" dirty="0">
                <a:latin typeface="Arial"/>
                <a:cs typeface="Arial"/>
              </a:rPr>
              <a:t>Structure</a:t>
            </a:r>
            <a:r>
              <a:rPr sz="1400" b="1" spc="-8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Ad</a:t>
            </a:r>
            <a:r>
              <a:rPr sz="1400" b="1" spc="3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Groups</a:t>
            </a:r>
            <a:endParaRPr sz="14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sz="1400" dirty="0">
                <a:latin typeface="Arial MT"/>
                <a:cs typeface="Arial MT"/>
              </a:rPr>
              <a:t>Separate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ad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groups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each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course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improve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relevant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Quality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Score.</a:t>
            </a:r>
            <a:endParaRPr sz="1400" dirty="0">
              <a:latin typeface="Arial MT"/>
              <a:cs typeface="Arial MT"/>
            </a:endParaRPr>
          </a:p>
          <a:p>
            <a:pPr marL="207645" indent="-194945">
              <a:lnSpc>
                <a:spcPct val="100000"/>
              </a:lnSpc>
              <a:spcBef>
                <a:spcPts val="1200"/>
              </a:spcBef>
              <a:buAutoNum type="arabicPeriod" startAt="3"/>
              <a:tabLst>
                <a:tab pos="207645" algn="l"/>
              </a:tabLst>
            </a:pPr>
            <a:r>
              <a:rPr sz="1400" b="1" dirty="0">
                <a:latin typeface="Arial"/>
                <a:cs typeface="Arial"/>
              </a:rPr>
              <a:t>Optimized</a:t>
            </a:r>
            <a:r>
              <a:rPr sz="1400" b="1" spc="-7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Wix</a:t>
            </a:r>
            <a:r>
              <a:rPr sz="1400" b="1" spc="-4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Landing</a:t>
            </a:r>
            <a:r>
              <a:rPr sz="1400" b="1" spc="-45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Page</a:t>
            </a:r>
            <a:endParaRPr sz="14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lang="en-US" sz="1400" spc="-10" dirty="0">
                <a:latin typeface="Arial MT"/>
                <a:cs typeface="Arial MT"/>
              </a:rPr>
              <a:t>Laptop</a:t>
            </a:r>
            <a:r>
              <a:rPr sz="1400" spc="-10" dirty="0">
                <a:latin typeface="Arial MT"/>
                <a:cs typeface="Arial MT"/>
              </a:rPr>
              <a:t>-</a:t>
            </a:r>
            <a:r>
              <a:rPr sz="1400" dirty="0">
                <a:latin typeface="Arial MT"/>
                <a:cs typeface="Arial MT"/>
              </a:rPr>
              <a:t>friendly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design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with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strong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call-</a:t>
            </a:r>
            <a:r>
              <a:rPr sz="1400" dirty="0">
                <a:latin typeface="Arial MT"/>
                <a:cs typeface="Arial MT"/>
              </a:rPr>
              <a:t>to-action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buttons.</a:t>
            </a:r>
            <a:endParaRPr sz="1400" dirty="0">
              <a:latin typeface="Arial MT"/>
              <a:cs typeface="Arial MT"/>
            </a:endParaRPr>
          </a:p>
          <a:p>
            <a:pPr marL="207645" indent="-194945">
              <a:lnSpc>
                <a:spcPct val="100000"/>
              </a:lnSpc>
              <a:spcBef>
                <a:spcPts val="1200"/>
              </a:spcBef>
              <a:buAutoNum type="arabicPeriod" startAt="4"/>
              <a:tabLst>
                <a:tab pos="207645" algn="l"/>
              </a:tabLst>
            </a:pPr>
            <a:r>
              <a:rPr sz="1400" b="1" dirty="0">
                <a:latin typeface="Arial"/>
                <a:cs typeface="Arial"/>
              </a:rPr>
              <a:t>Conversion</a:t>
            </a:r>
            <a:r>
              <a:rPr sz="1400" b="1" spc="-6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Tracking</a:t>
            </a:r>
            <a:r>
              <a:rPr sz="1400" b="1" spc="-85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Setup</a:t>
            </a:r>
            <a:endParaRPr sz="14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sz="1400" dirty="0">
                <a:latin typeface="Arial MT"/>
                <a:cs typeface="Arial MT"/>
              </a:rPr>
              <a:t>Measure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form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submission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call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clicks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performance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analysis.</a:t>
            </a:r>
            <a:endParaRPr sz="1400" dirty="0">
              <a:latin typeface="Arial MT"/>
              <a:cs typeface="Arial MT"/>
            </a:endParaRPr>
          </a:p>
          <a:p>
            <a:pPr marL="207645" indent="-194945">
              <a:lnSpc>
                <a:spcPct val="100000"/>
              </a:lnSpc>
              <a:spcBef>
                <a:spcPts val="1200"/>
              </a:spcBef>
              <a:buAutoNum type="arabicPeriod" startAt="5"/>
              <a:tabLst>
                <a:tab pos="207645" algn="l"/>
              </a:tabLst>
            </a:pPr>
            <a:r>
              <a:rPr sz="1400" b="1" dirty="0">
                <a:latin typeface="Arial"/>
                <a:cs typeface="Arial"/>
              </a:rPr>
              <a:t>Smart</a:t>
            </a:r>
            <a:r>
              <a:rPr sz="1400" b="1" spc="-5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Bidding</a:t>
            </a:r>
            <a:r>
              <a:rPr sz="1400" b="1" spc="-8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Strategy</a:t>
            </a:r>
            <a:endParaRPr sz="14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sz="1400" dirty="0">
                <a:latin typeface="Arial MT"/>
                <a:cs typeface="Arial MT"/>
              </a:rPr>
              <a:t>Used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“Maximize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Conversations”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optimize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spend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automatically.</a:t>
            </a:r>
            <a:endParaRPr sz="1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3F9F365D-7E2B-5B79-9E11-31B8379095F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C17EAC2-46FF-CFC4-13F8-CBA5E53165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538" y="381000"/>
            <a:ext cx="11286923" cy="5964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358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GOOGLE</a:t>
            </a:r>
            <a:r>
              <a:rPr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ADS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ACCOUNT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SETUP</a:t>
            </a:r>
          </a:p>
        </p:txBody>
      </p:sp>
      <p:sp>
        <p:nvSpPr>
          <p:cNvPr id="3" name="object 3"/>
          <p:cNvSpPr/>
          <p:nvPr/>
        </p:nvSpPr>
        <p:spPr>
          <a:xfrm>
            <a:off x="3600450" y="684276"/>
            <a:ext cx="5086350" cy="0"/>
          </a:xfrm>
          <a:custGeom>
            <a:avLst/>
            <a:gdLst/>
            <a:ahLst/>
            <a:cxnLst/>
            <a:rect l="l" t="t" r="r" b="b"/>
            <a:pathLst>
              <a:path w="5086350">
                <a:moveTo>
                  <a:pt x="0" y="0"/>
                </a:moveTo>
                <a:lnTo>
                  <a:pt x="508635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229" y="175310"/>
            <a:ext cx="583590" cy="5089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D19997-C011-4AAE-4642-148B15C472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04"/>
          <a:stretch>
            <a:fillRect/>
          </a:stretch>
        </p:blipFill>
        <p:spPr>
          <a:xfrm>
            <a:off x="1104899" y="1851581"/>
            <a:ext cx="9944101" cy="47788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7EB76D-F03F-6DB6-CA48-E8E5ADA671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0019" y="-276333"/>
            <a:ext cx="3225935" cy="17583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481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CAMPAIGN</a:t>
            </a:r>
            <a:r>
              <a:rPr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SETUP</a:t>
            </a:r>
          </a:p>
        </p:txBody>
      </p:sp>
      <p:sp>
        <p:nvSpPr>
          <p:cNvPr id="3" name="object 3"/>
          <p:cNvSpPr/>
          <p:nvPr/>
        </p:nvSpPr>
        <p:spPr>
          <a:xfrm flipV="1">
            <a:off x="4687696" y="638557"/>
            <a:ext cx="3084704" cy="45719"/>
          </a:xfrm>
          <a:custGeom>
            <a:avLst/>
            <a:gdLst/>
            <a:ahLst/>
            <a:cxnLst/>
            <a:rect l="l" t="t" r="r" b="b"/>
            <a:pathLst>
              <a:path w="2816859">
                <a:moveTo>
                  <a:pt x="0" y="0"/>
                </a:moveTo>
                <a:lnTo>
                  <a:pt x="2816605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229" y="175310"/>
            <a:ext cx="583590" cy="5089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48139D-9418-3FC0-162C-3A9D1F613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425796"/>
            <a:ext cx="10210800" cy="48574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6D8C9D-7528-4295-391B-F53840D604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0019" y="-304800"/>
            <a:ext cx="3225935" cy="17583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663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SETTING</a:t>
            </a:r>
            <a:r>
              <a:rPr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CAMPAIGN</a:t>
            </a:r>
            <a:r>
              <a:rPr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GOAL</a:t>
            </a:r>
          </a:p>
        </p:txBody>
      </p:sp>
      <p:sp>
        <p:nvSpPr>
          <p:cNvPr id="3" name="object 3"/>
          <p:cNvSpPr/>
          <p:nvPr/>
        </p:nvSpPr>
        <p:spPr>
          <a:xfrm flipV="1">
            <a:off x="4022216" y="638557"/>
            <a:ext cx="4283584" cy="45719"/>
          </a:xfrm>
          <a:custGeom>
            <a:avLst/>
            <a:gdLst/>
            <a:ahLst/>
            <a:cxnLst/>
            <a:rect l="l" t="t" r="r" b="b"/>
            <a:pathLst>
              <a:path w="4147820">
                <a:moveTo>
                  <a:pt x="0" y="0"/>
                </a:moveTo>
                <a:lnTo>
                  <a:pt x="4147566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229" y="175310"/>
            <a:ext cx="583590" cy="5089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EE0A4C-FCF6-FBE0-797C-0AF2026B5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08" y="1371600"/>
            <a:ext cx="10668000" cy="50474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006477-0B56-0465-1976-7FD3BA2C41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0019" y="-276333"/>
            <a:ext cx="3225935" cy="17583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62299" y="217805"/>
            <a:ext cx="58674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9095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CAMPAIGN</a:t>
            </a:r>
            <a:r>
              <a:rPr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</a:p>
        </p:txBody>
      </p:sp>
      <p:sp>
        <p:nvSpPr>
          <p:cNvPr id="3" name="object 3"/>
          <p:cNvSpPr/>
          <p:nvPr/>
        </p:nvSpPr>
        <p:spPr>
          <a:xfrm flipV="1">
            <a:off x="4312158" y="638557"/>
            <a:ext cx="4069842" cy="45719"/>
          </a:xfrm>
          <a:custGeom>
            <a:avLst/>
            <a:gdLst/>
            <a:ahLst/>
            <a:cxnLst/>
            <a:rect l="l" t="t" r="r" b="b"/>
            <a:pathLst>
              <a:path w="3568065">
                <a:moveTo>
                  <a:pt x="0" y="0"/>
                </a:moveTo>
                <a:lnTo>
                  <a:pt x="3567684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229" y="175310"/>
            <a:ext cx="583590" cy="5089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5131C48-5FE3-C6E2-E47F-915954078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819" y="1143000"/>
            <a:ext cx="10287000" cy="52292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77CBD8-0AE0-3B18-71FD-98B27695D2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1204" y="-161865"/>
            <a:ext cx="2830796" cy="15429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0534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CHOOSING</a:t>
            </a:r>
            <a:r>
              <a:rPr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CAMPAIGN</a:t>
            </a:r>
            <a:r>
              <a:rPr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</a:p>
        </p:txBody>
      </p:sp>
      <p:sp>
        <p:nvSpPr>
          <p:cNvPr id="3" name="object 3"/>
          <p:cNvSpPr/>
          <p:nvPr/>
        </p:nvSpPr>
        <p:spPr>
          <a:xfrm flipV="1">
            <a:off x="3600449" y="602818"/>
            <a:ext cx="5429249" cy="81458"/>
          </a:xfrm>
          <a:custGeom>
            <a:avLst/>
            <a:gdLst/>
            <a:ahLst/>
            <a:cxnLst/>
            <a:rect l="l" t="t" r="r" b="b"/>
            <a:pathLst>
              <a:path w="5086350">
                <a:moveTo>
                  <a:pt x="0" y="0"/>
                </a:moveTo>
                <a:lnTo>
                  <a:pt x="508635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229" y="175310"/>
            <a:ext cx="583590" cy="5089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0AC95F-9D54-EB4A-F857-254F1CA2B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499" y="1378168"/>
            <a:ext cx="10287000" cy="48617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E92E1B-95AD-6789-8271-BE80B69E30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0019" y="-276333"/>
            <a:ext cx="3225935" cy="175830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0534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CHOOSING</a:t>
            </a:r>
            <a:r>
              <a:rPr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CAMPAIGN</a:t>
            </a:r>
            <a:r>
              <a:rPr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</a:p>
        </p:txBody>
      </p:sp>
      <p:sp>
        <p:nvSpPr>
          <p:cNvPr id="3" name="object 3"/>
          <p:cNvSpPr/>
          <p:nvPr/>
        </p:nvSpPr>
        <p:spPr>
          <a:xfrm flipV="1">
            <a:off x="3600449" y="602818"/>
            <a:ext cx="5429249" cy="81458"/>
          </a:xfrm>
          <a:custGeom>
            <a:avLst/>
            <a:gdLst/>
            <a:ahLst/>
            <a:cxnLst/>
            <a:rect l="l" t="t" r="r" b="b"/>
            <a:pathLst>
              <a:path w="5086350">
                <a:moveTo>
                  <a:pt x="0" y="0"/>
                </a:moveTo>
                <a:lnTo>
                  <a:pt x="508635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229" y="175310"/>
            <a:ext cx="583590" cy="50896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94EBA08-10DB-D31B-259E-DCE2E4D08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325" y="1143000"/>
            <a:ext cx="10433632" cy="52725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098F24-6246-67D4-C11E-5B10F1C33B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7848" y="-176266"/>
            <a:ext cx="2858753" cy="155816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0534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CHOOSING</a:t>
            </a:r>
            <a:r>
              <a:rPr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CAMPAIGN</a:t>
            </a:r>
            <a:r>
              <a:rPr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</a:p>
        </p:txBody>
      </p:sp>
      <p:sp>
        <p:nvSpPr>
          <p:cNvPr id="3" name="object 3"/>
          <p:cNvSpPr/>
          <p:nvPr/>
        </p:nvSpPr>
        <p:spPr>
          <a:xfrm flipV="1">
            <a:off x="3600449" y="638557"/>
            <a:ext cx="5429249" cy="45719"/>
          </a:xfrm>
          <a:custGeom>
            <a:avLst/>
            <a:gdLst/>
            <a:ahLst/>
            <a:cxnLst/>
            <a:rect l="l" t="t" r="r" b="b"/>
            <a:pathLst>
              <a:path w="5086350">
                <a:moveTo>
                  <a:pt x="0" y="0"/>
                </a:moveTo>
                <a:lnTo>
                  <a:pt x="508635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229" y="175310"/>
            <a:ext cx="583590" cy="50896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A3F0EB3-CC0F-9623-CDC4-78954F6D3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240" y="1335935"/>
            <a:ext cx="10123519" cy="47600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8FF071-2313-005F-7D83-A8EE228D2E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0019" y="-276333"/>
            <a:ext cx="3225935" cy="175830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0534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CHOOSING</a:t>
            </a:r>
            <a:r>
              <a:rPr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CAMPAIGN</a:t>
            </a:r>
            <a:r>
              <a:rPr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</a:p>
        </p:txBody>
      </p:sp>
      <p:sp>
        <p:nvSpPr>
          <p:cNvPr id="3" name="object 3"/>
          <p:cNvSpPr/>
          <p:nvPr/>
        </p:nvSpPr>
        <p:spPr>
          <a:xfrm flipV="1">
            <a:off x="3600450" y="602818"/>
            <a:ext cx="5467350" cy="81458"/>
          </a:xfrm>
          <a:custGeom>
            <a:avLst/>
            <a:gdLst/>
            <a:ahLst/>
            <a:cxnLst/>
            <a:rect l="l" t="t" r="r" b="b"/>
            <a:pathLst>
              <a:path w="5086350">
                <a:moveTo>
                  <a:pt x="0" y="0"/>
                </a:moveTo>
                <a:lnTo>
                  <a:pt x="508635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229" y="175310"/>
            <a:ext cx="583590" cy="508965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3F74B219-E741-9FEE-A2B9-D2A2E4FF4F33}"/>
              </a:ext>
            </a:extLst>
          </p:cNvPr>
          <p:cNvGrpSpPr/>
          <p:nvPr/>
        </p:nvGrpSpPr>
        <p:grpSpPr>
          <a:xfrm>
            <a:off x="1776412" y="1140768"/>
            <a:ext cx="8639175" cy="5506209"/>
            <a:chOff x="4953000" y="837508"/>
            <a:chExt cx="5768840" cy="3887585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77D4983-D46F-26B1-A03A-C8A687D41F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48180"/>
            <a:stretch>
              <a:fillRect/>
            </a:stretch>
          </p:blipFill>
          <p:spPr>
            <a:xfrm>
              <a:off x="4953000" y="1976535"/>
              <a:ext cx="5768840" cy="2748558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B448E7F-DCD5-1800-A092-F7196FB79D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78437"/>
            <a:stretch>
              <a:fillRect/>
            </a:stretch>
          </p:blipFill>
          <p:spPr>
            <a:xfrm>
              <a:off x="4953000" y="837508"/>
              <a:ext cx="5768840" cy="1143692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CAA7BC95-1DC9-FDFC-2ACE-0758CA009D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0019" y="-276332"/>
            <a:ext cx="3141981" cy="171254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9362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BIDDING</a:t>
            </a:r>
          </a:p>
        </p:txBody>
      </p:sp>
      <p:sp>
        <p:nvSpPr>
          <p:cNvPr id="3" name="object 3"/>
          <p:cNvSpPr/>
          <p:nvPr/>
        </p:nvSpPr>
        <p:spPr>
          <a:xfrm>
            <a:off x="5336666" y="684276"/>
            <a:ext cx="1518920" cy="0"/>
          </a:xfrm>
          <a:custGeom>
            <a:avLst/>
            <a:gdLst/>
            <a:ahLst/>
            <a:cxnLst/>
            <a:rect l="l" t="t" r="r" b="b"/>
            <a:pathLst>
              <a:path w="1518920">
                <a:moveTo>
                  <a:pt x="0" y="0"/>
                </a:moveTo>
                <a:lnTo>
                  <a:pt x="1518665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229" y="175310"/>
            <a:ext cx="583590" cy="50896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54C132B-6994-4BC6-47FD-2D8221376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1295400"/>
            <a:ext cx="975445" cy="3124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11AFBF-AA14-713B-43E4-ACEA37CE2F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799" y="1451623"/>
            <a:ext cx="10058400" cy="47799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C2C5F5-54A4-6C49-823D-25BE910DB8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0019" y="-276333"/>
            <a:ext cx="3225935" cy="175830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807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SETTING</a:t>
            </a:r>
            <a:r>
              <a:rPr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DEMOGRAPHICS</a:t>
            </a:r>
          </a:p>
        </p:txBody>
      </p:sp>
      <p:sp>
        <p:nvSpPr>
          <p:cNvPr id="3" name="object 3"/>
          <p:cNvSpPr/>
          <p:nvPr/>
        </p:nvSpPr>
        <p:spPr>
          <a:xfrm flipV="1">
            <a:off x="4165090" y="638557"/>
            <a:ext cx="4169663" cy="45719"/>
          </a:xfrm>
          <a:custGeom>
            <a:avLst/>
            <a:gdLst/>
            <a:ahLst/>
            <a:cxnLst/>
            <a:rect l="l" t="t" r="r" b="b"/>
            <a:pathLst>
              <a:path w="3862070">
                <a:moveTo>
                  <a:pt x="0" y="0"/>
                </a:moveTo>
                <a:lnTo>
                  <a:pt x="3861816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229" y="175310"/>
            <a:ext cx="583590" cy="508965"/>
          </a:xfrm>
          <a:prstGeom prst="rect">
            <a:avLst/>
          </a:prstGeom>
        </p:spPr>
      </p:pic>
      <p:grpSp>
        <p:nvGrpSpPr>
          <p:cNvPr id="8" name="object 9">
            <a:extLst>
              <a:ext uri="{FF2B5EF4-FFF2-40B4-BE49-F238E27FC236}">
                <a16:creationId xmlns:a16="http://schemas.microsoft.com/office/drawing/2014/main" id="{64460DEE-E31B-8C72-F43F-6087612B7756}"/>
              </a:ext>
            </a:extLst>
          </p:cNvPr>
          <p:cNvGrpSpPr/>
          <p:nvPr/>
        </p:nvGrpSpPr>
        <p:grpSpPr>
          <a:xfrm>
            <a:off x="7075931" y="1231391"/>
            <a:ext cx="4170045" cy="4971415"/>
            <a:chOff x="7075931" y="1231391"/>
            <a:chExt cx="4170045" cy="4971415"/>
          </a:xfrm>
        </p:grpSpPr>
        <p:pic>
          <p:nvPicPr>
            <p:cNvPr id="9" name="object 10">
              <a:extLst>
                <a:ext uri="{FF2B5EF4-FFF2-40B4-BE49-F238E27FC236}">
                  <a16:creationId xmlns:a16="http://schemas.microsoft.com/office/drawing/2014/main" id="{F8DB623A-AC64-1781-00C1-8E5E4081B9F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75931" y="1231391"/>
              <a:ext cx="4169664" cy="4971288"/>
            </a:xfrm>
            <a:prstGeom prst="rect">
              <a:avLst/>
            </a:prstGeom>
          </p:spPr>
        </p:pic>
        <p:pic>
          <p:nvPicPr>
            <p:cNvPr id="10" name="object 11">
              <a:extLst>
                <a:ext uri="{FF2B5EF4-FFF2-40B4-BE49-F238E27FC236}">
                  <a16:creationId xmlns:a16="http://schemas.microsoft.com/office/drawing/2014/main" id="{777BF8D0-B9BD-63BA-C936-124F47BC103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29906" y="1247139"/>
              <a:ext cx="4066158" cy="4869180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C3764C9E-F78D-E88A-4799-1ADDC23A5B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" y="1436635"/>
            <a:ext cx="6615451" cy="4560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2224D35-3207-28AA-8194-4F03CE4F02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0019" y="-276333"/>
            <a:ext cx="3225935" cy="175830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358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CREATIVE</a:t>
            </a:r>
            <a:r>
              <a:rPr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ASSETS</a:t>
            </a:r>
            <a:r>
              <a:rPr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CREATION</a:t>
            </a:r>
          </a:p>
        </p:txBody>
      </p:sp>
      <p:sp>
        <p:nvSpPr>
          <p:cNvPr id="3" name="object 3"/>
          <p:cNvSpPr/>
          <p:nvPr/>
        </p:nvSpPr>
        <p:spPr>
          <a:xfrm>
            <a:off x="3691635" y="684276"/>
            <a:ext cx="4808855" cy="0"/>
          </a:xfrm>
          <a:custGeom>
            <a:avLst/>
            <a:gdLst/>
            <a:ahLst/>
            <a:cxnLst/>
            <a:rect l="l" t="t" r="r" b="b"/>
            <a:pathLst>
              <a:path w="4808855">
                <a:moveTo>
                  <a:pt x="0" y="0"/>
                </a:moveTo>
                <a:lnTo>
                  <a:pt x="480872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229" y="175310"/>
            <a:ext cx="583590" cy="5089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738126-022D-EF50-ADE5-EB0B36B77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910" y="1327067"/>
            <a:ext cx="9354178" cy="55563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359471-A5D1-9520-2BAC-9546915694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0019" y="-276333"/>
            <a:ext cx="3225935" cy="175830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358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CREATIVE</a:t>
            </a:r>
            <a:r>
              <a:rPr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ASSETS</a:t>
            </a:r>
            <a:r>
              <a:rPr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CREATION</a:t>
            </a:r>
          </a:p>
        </p:txBody>
      </p:sp>
      <p:sp>
        <p:nvSpPr>
          <p:cNvPr id="3" name="object 3"/>
          <p:cNvSpPr/>
          <p:nvPr/>
        </p:nvSpPr>
        <p:spPr>
          <a:xfrm>
            <a:off x="3691635" y="684276"/>
            <a:ext cx="4808855" cy="0"/>
          </a:xfrm>
          <a:custGeom>
            <a:avLst/>
            <a:gdLst/>
            <a:ahLst/>
            <a:cxnLst/>
            <a:rect l="l" t="t" r="r" b="b"/>
            <a:pathLst>
              <a:path w="4808855">
                <a:moveTo>
                  <a:pt x="0" y="0"/>
                </a:moveTo>
                <a:lnTo>
                  <a:pt x="480872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229" y="175310"/>
            <a:ext cx="583590" cy="5089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13841C-7D3C-042B-C226-A17896954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1011" y="1371600"/>
            <a:ext cx="6629975" cy="49686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59872A-951D-5C3E-4E58-1F737E3B52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0019" y="-276333"/>
            <a:ext cx="3225935" cy="175830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229" y="175310"/>
            <a:ext cx="583590" cy="508965"/>
          </a:xfrm>
          <a:prstGeom prst="rect">
            <a:avLst/>
          </a:prstGeom>
        </p:spPr>
      </p:pic>
      <p:sp>
        <p:nvSpPr>
          <p:cNvPr id="13" name="object 2" descr="$PPTXTitle">
            <a:extLst>
              <a:ext uri="{FF2B5EF4-FFF2-40B4-BE49-F238E27FC236}">
                <a16:creationId xmlns:a16="http://schemas.microsoft.com/office/drawing/2014/main" id="{CF26738F-D683-F8B0-86EE-2312573B52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62298" y="211023"/>
            <a:ext cx="643890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KEYWORD</a:t>
            </a:r>
            <a:r>
              <a:rPr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SEARCH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CONFIGURATION</a:t>
            </a:r>
          </a:p>
        </p:txBody>
      </p:sp>
      <p:sp>
        <p:nvSpPr>
          <p:cNvPr id="14" name="object 3">
            <a:extLst>
              <a:ext uri="{FF2B5EF4-FFF2-40B4-BE49-F238E27FC236}">
                <a16:creationId xmlns:a16="http://schemas.microsoft.com/office/drawing/2014/main" id="{DB43B252-9C36-F504-97A1-9D830916F479}"/>
              </a:ext>
            </a:extLst>
          </p:cNvPr>
          <p:cNvSpPr/>
          <p:nvPr/>
        </p:nvSpPr>
        <p:spPr>
          <a:xfrm flipV="1">
            <a:off x="3020314" y="593179"/>
            <a:ext cx="6809486" cy="91097"/>
          </a:xfrm>
          <a:custGeom>
            <a:avLst/>
            <a:gdLst/>
            <a:ahLst/>
            <a:cxnLst/>
            <a:rect l="l" t="t" r="r" b="b"/>
            <a:pathLst>
              <a:path w="6142355">
                <a:moveTo>
                  <a:pt x="0" y="0"/>
                </a:moveTo>
                <a:lnTo>
                  <a:pt x="614210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84912A-CCA4-CA92-5278-96D786CD8F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3625" y="1666403"/>
            <a:ext cx="5284749" cy="45984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324056-CBEF-3467-9566-1449624409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0019" y="-276333"/>
            <a:ext cx="3225935" cy="175830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229" y="175310"/>
            <a:ext cx="583590" cy="508965"/>
          </a:xfrm>
          <a:prstGeom prst="rect">
            <a:avLst/>
          </a:prstGeom>
        </p:spPr>
      </p:pic>
      <p:sp>
        <p:nvSpPr>
          <p:cNvPr id="13" name="object 2" descr="$PPTXTitle">
            <a:extLst>
              <a:ext uri="{FF2B5EF4-FFF2-40B4-BE49-F238E27FC236}">
                <a16:creationId xmlns:a16="http://schemas.microsoft.com/office/drawing/2014/main" id="{608D108A-577E-F7E5-B8C4-BD52FFBAD1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62298" y="211023"/>
            <a:ext cx="643890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KEYWORD</a:t>
            </a:r>
            <a:r>
              <a:rPr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SEARCH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CONFIGURATION</a:t>
            </a:r>
          </a:p>
        </p:txBody>
      </p:sp>
      <p:sp>
        <p:nvSpPr>
          <p:cNvPr id="14" name="object 3">
            <a:extLst>
              <a:ext uri="{FF2B5EF4-FFF2-40B4-BE49-F238E27FC236}">
                <a16:creationId xmlns:a16="http://schemas.microsoft.com/office/drawing/2014/main" id="{53772FAF-916E-99A5-DD79-803E8C895DFB}"/>
              </a:ext>
            </a:extLst>
          </p:cNvPr>
          <p:cNvSpPr/>
          <p:nvPr/>
        </p:nvSpPr>
        <p:spPr>
          <a:xfrm flipV="1">
            <a:off x="3020314" y="593179"/>
            <a:ext cx="6809486" cy="91097"/>
          </a:xfrm>
          <a:custGeom>
            <a:avLst/>
            <a:gdLst/>
            <a:ahLst/>
            <a:cxnLst/>
            <a:rect l="l" t="t" r="r" b="b"/>
            <a:pathLst>
              <a:path w="6142355">
                <a:moveTo>
                  <a:pt x="0" y="0"/>
                </a:moveTo>
                <a:lnTo>
                  <a:pt x="614210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3A01FB-735C-D9DC-F0F7-0287FBC54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1447800"/>
            <a:ext cx="4133990" cy="49761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591F77-C933-CBDD-A17F-5C631FA09A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0019" y="-276333"/>
            <a:ext cx="3225935" cy="175830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62298" y="211023"/>
            <a:ext cx="643890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KEYWORD</a:t>
            </a:r>
            <a:r>
              <a:rPr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SEARCH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CONFIGURATION</a:t>
            </a:r>
          </a:p>
        </p:txBody>
      </p:sp>
      <p:sp>
        <p:nvSpPr>
          <p:cNvPr id="3" name="object 3"/>
          <p:cNvSpPr/>
          <p:nvPr/>
        </p:nvSpPr>
        <p:spPr>
          <a:xfrm flipV="1">
            <a:off x="3020314" y="593179"/>
            <a:ext cx="6809486" cy="91097"/>
          </a:xfrm>
          <a:custGeom>
            <a:avLst/>
            <a:gdLst/>
            <a:ahLst/>
            <a:cxnLst/>
            <a:rect l="l" t="t" r="r" b="b"/>
            <a:pathLst>
              <a:path w="6142355">
                <a:moveTo>
                  <a:pt x="0" y="0"/>
                </a:moveTo>
                <a:lnTo>
                  <a:pt x="614210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229" y="175310"/>
            <a:ext cx="583590" cy="5089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D4387A4-A168-5100-634A-A99B1775426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rcRect l="1818"/>
          <a:stretch>
            <a:fillRect/>
          </a:stretch>
        </p:blipFill>
        <p:spPr>
          <a:xfrm>
            <a:off x="1676400" y="1600200"/>
            <a:ext cx="8230326" cy="44276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ECC12BB-9F2E-6D9F-AA0E-6C4FD01078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0019" y="-276333"/>
            <a:ext cx="3225935" cy="175830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2913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ADS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PREVIEW</a:t>
            </a:r>
          </a:p>
        </p:txBody>
      </p:sp>
      <p:sp>
        <p:nvSpPr>
          <p:cNvPr id="3" name="object 3"/>
          <p:cNvSpPr/>
          <p:nvPr/>
        </p:nvSpPr>
        <p:spPr>
          <a:xfrm>
            <a:off x="4849114" y="684276"/>
            <a:ext cx="2494280" cy="0"/>
          </a:xfrm>
          <a:custGeom>
            <a:avLst/>
            <a:gdLst/>
            <a:ahLst/>
            <a:cxnLst/>
            <a:rect l="l" t="t" r="r" b="b"/>
            <a:pathLst>
              <a:path w="2494279">
                <a:moveTo>
                  <a:pt x="0" y="0"/>
                </a:moveTo>
                <a:lnTo>
                  <a:pt x="249377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229" y="175310"/>
            <a:ext cx="583590" cy="5089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609C14-646D-2126-138B-392868104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545" y="1689214"/>
            <a:ext cx="9512907" cy="44845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8D61B5-F1BB-B9C8-5CA0-A71DD6FD06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0019" y="-276333"/>
            <a:ext cx="3225935" cy="175830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2913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ADS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PREVIEW</a:t>
            </a:r>
          </a:p>
        </p:txBody>
      </p:sp>
      <p:sp>
        <p:nvSpPr>
          <p:cNvPr id="3" name="object 3"/>
          <p:cNvSpPr/>
          <p:nvPr/>
        </p:nvSpPr>
        <p:spPr>
          <a:xfrm>
            <a:off x="4849114" y="684276"/>
            <a:ext cx="2494280" cy="0"/>
          </a:xfrm>
          <a:custGeom>
            <a:avLst/>
            <a:gdLst/>
            <a:ahLst/>
            <a:cxnLst/>
            <a:rect l="l" t="t" r="r" b="b"/>
            <a:pathLst>
              <a:path w="2494279">
                <a:moveTo>
                  <a:pt x="0" y="0"/>
                </a:moveTo>
                <a:lnTo>
                  <a:pt x="249377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229" y="175310"/>
            <a:ext cx="583590" cy="5089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A343D2-1393-F533-0FF1-E8523D672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1" y="975299"/>
            <a:ext cx="6095999" cy="54256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112D51-B8B7-9DF1-5CD1-55755B4ED1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400" y="975298"/>
            <a:ext cx="2895601" cy="53391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BB7D64-66F0-AAE3-0EF3-CC14AFEDE7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6211" y="-276333"/>
            <a:ext cx="3225935" cy="175830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481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SETTING</a:t>
            </a:r>
            <a:r>
              <a:rPr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BUDGET</a:t>
            </a:r>
          </a:p>
        </p:txBody>
      </p:sp>
      <p:sp>
        <p:nvSpPr>
          <p:cNvPr id="3" name="object 3"/>
          <p:cNvSpPr/>
          <p:nvPr/>
        </p:nvSpPr>
        <p:spPr>
          <a:xfrm flipV="1">
            <a:off x="4710556" y="638557"/>
            <a:ext cx="2985643" cy="45719"/>
          </a:xfrm>
          <a:custGeom>
            <a:avLst/>
            <a:gdLst/>
            <a:ahLst/>
            <a:cxnLst/>
            <a:rect l="l" t="t" r="r" b="b"/>
            <a:pathLst>
              <a:path w="2771140">
                <a:moveTo>
                  <a:pt x="0" y="0"/>
                </a:moveTo>
                <a:lnTo>
                  <a:pt x="2770886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229" y="175310"/>
            <a:ext cx="583590" cy="508965"/>
          </a:xfrm>
          <a:prstGeom prst="rect">
            <a:avLst/>
          </a:prstGeom>
        </p:spPr>
      </p:pic>
      <p:grpSp>
        <p:nvGrpSpPr>
          <p:cNvPr id="5" name="object 6">
            <a:extLst>
              <a:ext uri="{FF2B5EF4-FFF2-40B4-BE49-F238E27FC236}">
                <a16:creationId xmlns:a16="http://schemas.microsoft.com/office/drawing/2014/main" id="{A0D50F49-AFF7-67E7-7721-2646150629D6}"/>
              </a:ext>
            </a:extLst>
          </p:cNvPr>
          <p:cNvGrpSpPr/>
          <p:nvPr/>
        </p:nvGrpSpPr>
        <p:grpSpPr>
          <a:xfrm>
            <a:off x="1664207" y="1482852"/>
            <a:ext cx="8859520" cy="4861560"/>
            <a:chOff x="1664207" y="1482852"/>
            <a:chExt cx="8859520" cy="4861560"/>
          </a:xfrm>
        </p:grpSpPr>
        <p:pic>
          <p:nvPicPr>
            <p:cNvPr id="6" name="object 7">
              <a:extLst>
                <a:ext uri="{FF2B5EF4-FFF2-40B4-BE49-F238E27FC236}">
                  <a16:creationId xmlns:a16="http://schemas.microsoft.com/office/drawing/2014/main" id="{7F2268BF-3130-6AAB-3DDC-E92E6D0098A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64207" y="1482852"/>
              <a:ext cx="8859012" cy="4861560"/>
            </a:xfrm>
            <a:prstGeom prst="rect">
              <a:avLst/>
            </a:prstGeom>
          </p:spPr>
        </p:pic>
        <p:pic>
          <p:nvPicPr>
            <p:cNvPr id="7" name="object 8">
              <a:extLst>
                <a:ext uri="{FF2B5EF4-FFF2-40B4-BE49-F238E27FC236}">
                  <a16:creationId xmlns:a16="http://schemas.microsoft.com/office/drawing/2014/main" id="{7377560A-2D26-83C1-F1D8-6EF87191234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17928" y="1498053"/>
              <a:ext cx="8756015" cy="4759706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9659C7B-FA9D-9829-FC7C-6377AC82F7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0019" y="-276333"/>
            <a:ext cx="3225935" cy="175830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375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PUBLISHING</a:t>
            </a:r>
            <a:r>
              <a:rPr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CAMPAIGN</a:t>
            </a:r>
          </a:p>
        </p:txBody>
      </p:sp>
      <p:sp>
        <p:nvSpPr>
          <p:cNvPr id="3" name="object 3"/>
          <p:cNvSpPr/>
          <p:nvPr/>
        </p:nvSpPr>
        <p:spPr>
          <a:xfrm>
            <a:off x="3842384" y="684276"/>
            <a:ext cx="4498340" cy="0"/>
          </a:xfrm>
          <a:custGeom>
            <a:avLst/>
            <a:gdLst/>
            <a:ahLst/>
            <a:cxnLst/>
            <a:rect l="l" t="t" r="r" b="b"/>
            <a:pathLst>
              <a:path w="4498340">
                <a:moveTo>
                  <a:pt x="0" y="0"/>
                </a:moveTo>
                <a:lnTo>
                  <a:pt x="4498086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229" y="175310"/>
            <a:ext cx="583590" cy="508965"/>
          </a:xfrm>
          <a:prstGeom prst="rect">
            <a:avLst/>
          </a:prstGeom>
        </p:spPr>
      </p:pic>
      <p:grpSp>
        <p:nvGrpSpPr>
          <p:cNvPr id="5" name="object 6">
            <a:extLst>
              <a:ext uri="{FF2B5EF4-FFF2-40B4-BE49-F238E27FC236}">
                <a16:creationId xmlns:a16="http://schemas.microsoft.com/office/drawing/2014/main" id="{4709F25F-54E2-E2EC-A4F2-0E5FE2C5D2C3}"/>
              </a:ext>
            </a:extLst>
          </p:cNvPr>
          <p:cNvGrpSpPr/>
          <p:nvPr/>
        </p:nvGrpSpPr>
        <p:grpSpPr>
          <a:xfrm>
            <a:off x="3473196" y="832102"/>
            <a:ext cx="5428615" cy="5995670"/>
            <a:chOff x="3473196" y="832102"/>
            <a:chExt cx="5428615" cy="5995670"/>
          </a:xfrm>
        </p:grpSpPr>
        <p:pic>
          <p:nvPicPr>
            <p:cNvPr id="6" name="object 7">
              <a:extLst>
                <a:ext uri="{FF2B5EF4-FFF2-40B4-BE49-F238E27FC236}">
                  <a16:creationId xmlns:a16="http://schemas.microsoft.com/office/drawing/2014/main" id="{080CBBAD-E073-C919-ABC2-6ABA221BCA5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73196" y="832102"/>
              <a:ext cx="5428488" cy="5995416"/>
            </a:xfrm>
            <a:prstGeom prst="rect">
              <a:avLst/>
            </a:prstGeom>
          </p:spPr>
        </p:pic>
        <p:pic>
          <p:nvPicPr>
            <p:cNvPr id="7" name="object 8">
              <a:extLst>
                <a:ext uri="{FF2B5EF4-FFF2-40B4-BE49-F238E27FC236}">
                  <a16:creationId xmlns:a16="http://schemas.microsoft.com/office/drawing/2014/main" id="{B2AFA5BD-8C99-0FD8-51BD-6348DF6C759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26917" y="846683"/>
              <a:ext cx="5325998" cy="5894322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7E84FCB4-95E9-498C-2118-374EC494A5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0019" y="-276333"/>
            <a:ext cx="3225935" cy="175830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62299" y="217805"/>
            <a:ext cx="58674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8239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CAMPAIGN</a:t>
            </a:r>
            <a:r>
              <a:rPr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</a:p>
        </p:txBody>
      </p:sp>
      <p:sp>
        <p:nvSpPr>
          <p:cNvPr id="3" name="object 3"/>
          <p:cNvSpPr/>
          <p:nvPr/>
        </p:nvSpPr>
        <p:spPr>
          <a:xfrm flipV="1">
            <a:off x="4359528" y="638557"/>
            <a:ext cx="3793872" cy="45719"/>
          </a:xfrm>
          <a:custGeom>
            <a:avLst/>
            <a:gdLst/>
            <a:ahLst/>
            <a:cxnLst/>
            <a:rect l="l" t="t" r="r" b="b"/>
            <a:pathLst>
              <a:path w="3519170">
                <a:moveTo>
                  <a:pt x="0" y="0"/>
                </a:moveTo>
                <a:lnTo>
                  <a:pt x="3519043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229" y="175310"/>
            <a:ext cx="583590" cy="5089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ABBDCBC-5A35-1E32-CDA1-1633FA6F9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199" y="990600"/>
            <a:ext cx="9753600" cy="54807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EF96A6-46C7-F40D-B2E8-CF257DDBD9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7458" y="-232019"/>
            <a:ext cx="2718950" cy="148196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5F0E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0800" y="949248"/>
            <a:ext cx="7010400" cy="495947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346</TotalTime>
  <Words>372</Words>
  <Application>Microsoft Office PowerPoint</Application>
  <PresentationFormat>Widescreen</PresentationFormat>
  <Paragraphs>65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Arial MT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GOOGLE ADS ACCOUNT SETUP</vt:lpstr>
      <vt:lpstr>CAMPAIGN SETUP</vt:lpstr>
      <vt:lpstr>SETTING CAMPAIGN GOAL</vt:lpstr>
      <vt:lpstr>CAMPAIGN DASHBOARD</vt:lpstr>
      <vt:lpstr>CHOOSING CAMPAIGN OBJECTIVE</vt:lpstr>
      <vt:lpstr>CHOOSING CAMPAIGN OBJECTIVE</vt:lpstr>
      <vt:lpstr>CHOOSING CAMPAIGN OBJECTIVE</vt:lpstr>
      <vt:lpstr>CHOOSING CAMPAIGN OBJECTIVE</vt:lpstr>
      <vt:lpstr>BIDDING</vt:lpstr>
      <vt:lpstr>SETTING DEMOGRAPHICS</vt:lpstr>
      <vt:lpstr>CREATIVE ASSETS CREATION</vt:lpstr>
      <vt:lpstr>CREATIVE ASSETS CREATION</vt:lpstr>
      <vt:lpstr>KEYWORD AND SEARCH CONFIGURATION</vt:lpstr>
      <vt:lpstr>KEYWORD AND SEARCH CONFIGURATION</vt:lpstr>
      <vt:lpstr>KEYWORD AND SEARCH CONFIGURATION</vt:lpstr>
      <vt:lpstr>ADS PREVIEW</vt:lpstr>
      <vt:lpstr>ADS PREVIEW</vt:lpstr>
      <vt:lpstr>SETTING BUDGET</vt:lpstr>
      <vt:lpstr>PUBLISHING THE CAMPAIGN</vt:lpstr>
      <vt:lpstr>CAMPAIGN OVERVIEW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Nitin Khemani</cp:lastModifiedBy>
  <cp:revision>12</cp:revision>
  <dcterms:created xsi:type="dcterms:W3CDTF">2026-09-18T06:50:16Z</dcterms:created>
  <dcterms:modified xsi:type="dcterms:W3CDTF">2026-10-01T14:42:58Z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2026-09-05T00:00:00Z</vt:filetime>
  </property>
  <property fmtid="{D5CDD505-2E9C-101B-9397-08002B2CF9AE}" pid="4" name="Creator">
    <vt:lpwstr>Microsoft® PowerPoint® 2021</vt:lpwstr>
  </property>
  <property fmtid="{D5CDD505-2E9C-101B-9397-08002B2CF9AE}" pid="5" name="LastSaved">
    <vt:filetime>2026-09-18T00:00:00Z</vt:filetime>
  </property>
  <property fmtid="{D5CDD505-2E9C-101B-9397-08002B2CF9AE}" pid="6" name="Producer">
    <vt:lpwstr>Microsoft® PowerPoint® 2021</vt:lpwstr>
  </property>
</Properties>
</file>